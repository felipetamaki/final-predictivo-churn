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3103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Presentacion de 15 minutos. Estructura: negocio -&gt; datos -&gt; metodologia -&gt; modelado -&gt; vuelta al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Enfatizar: el 26,5% es la foto de un mes. El costo asimetrico (perder cliente vs llamada de mas) justifica despues la eleccion de F2.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 la pregunta 'como funcionaria en produccion'. Idea clave: modelo = ranking; negocio = umbral.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actualizacion futura: la telco regenera estas variables con cada ciclo de facturacion mensual.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Contrato mes a mes 43% vs 3% en 2 anios. Cheque electronico 45%. Fibra 42% (posible tema precio/calidad). Demograficas casi neutras.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tipica: por que no ROC-AUC. Respuesta: con 26,5% de positivos la curva ROC luce optimista porque los verdaderos negativos abundan; la curva PR es mas exigente y refleja el caso de uso (a quien llamo).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para vender: la prueba de honestidad llega en la slide del modelo final (CV 0,672 vs test 0,666).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features salieron del EDA. En la slide siguiente se comparan 'base' vs 'enriquecidas' en todos los modelos.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Adelanto del final: la logistica casi gana. Eso refuerza que elegir LightGBM despues requiere evidencia (el tuning).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 enriquecidas = n_servicios, bandas de antiguedad, interaccion contrato x antiguedad, cargo por servicio. Evaluadas en TODOS los modelos para comparacion justa.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que LightGBM y no CatBoost/AdaBoost (diferencia 0,002, ruido): mejor score puntual + rapido + SHAP directo; la logistica quedo como alternativa parsimoniosa.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cercania CV-test (0,672 vs 0,666) es el argumento de honestidad metodologica. Reproducible al byte: re-ejecutar los notebooks regenera modelo y predicciones con hash identico.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Elegido sobre predicciones out-of-fold del train, nunca sobre test. Es el punto de partida: la slide siguiente muestra el menu completo si la capacidad es menor.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Aca se cierra el circulo con la slide 3: capacidad limitada -&gt; curva de ganancia. Brier 0,134 vs 0,195 del azar.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punto es un cliente del test. Rojo = valor alto de la feature. SHAP positivo = empuja hacia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Mensaje: es un benchmark con techo conocido (~0,67 PR-AUC); mas algoritmo no mueve la aguja, mas datos 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negocio: anticipa la fuga, explica el porque, enfoca el esfuerzo, listo para usar. Detalles tecnicos (PR-AUC 0,666, recall 90%, metodologia) ya se cubrieron en las slides 11-14; aca el mensaje es el valor para el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PREDICTIVO — EXAMEN FINAL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536192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de churn en una telco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para que el equipo de retención llegue antes que la baja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Tamaki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ITBA · 2026 · Dataset: IBM Telco Customer Churn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CASO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Retener cuesta menos </a:t>
            </a:r>
            <a:r>
              <a:rPr lang="en-US" sz="25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adquirir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55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foto del dataset, 1 de cada 4 clientes se dio de baja. Cada churner es ingreso recurrente perdido y un costo de adquisición para reemplazarlo.</a:t>
            </a:r>
            <a:endParaRPr lang="en-US" sz="1550" dirty="0"/>
          </a:p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del modelo</a:t>
            </a:r>
            <a:endParaRPr lang="en-US" sz="155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Estimar, para cada cliente activo, la probabilidad de baja el próximo mes, para que retención actúe proactivamente: oferta, cambio de plan o contacto directo.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observacional: </a:t>
            </a:r>
            <a:r>
              <a:rPr lang="en-US" sz="15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activo.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respuesta: </a:t>
            </a:r>
            <a:r>
              <a:rPr lang="en-US" sz="15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(Sí/No).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532120" y="1188720"/>
            <a:ext cx="3154680" cy="1042416"/>
          </a:xfrm>
          <a:prstGeom prst="roundRect">
            <a:avLst>
              <a:gd name="adj" fmla="val 7018"/>
            </a:avLst>
          </a:prstGeom>
          <a:solidFill>
            <a:srgbClr val="F2F5FC"/>
          </a:solidFill>
          <a:ln/>
          <a:effectLst>
            <a:outerShdw blurRad="88900" dist="25400" dir="2700000" algn="bl" rotWithShape="0">
              <a:srgbClr val="8A93A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760720" y="1280160"/>
            <a:ext cx="1600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0" y="1280160"/>
            <a:ext cx="1325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churn mensual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532120" y="2414016"/>
            <a:ext cx="3154680" cy="1042416"/>
          </a:xfrm>
          <a:prstGeom prst="roundRect">
            <a:avLst>
              <a:gd name="adj" fmla="val 7018"/>
            </a:avLst>
          </a:prstGeom>
          <a:solidFill>
            <a:srgbClr val="F2F5FC"/>
          </a:solidFill>
          <a:ln/>
          <a:effectLst>
            <a:outerShdw blurRad="88900" dist="25400" dir="2700000" algn="bl" rotWithShape="0">
              <a:srgbClr val="8A93A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0" y="2505456"/>
            <a:ext cx="1600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7.043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315200" y="2505456"/>
            <a:ext cx="1325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en la base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532120" y="3639312"/>
            <a:ext cx="3154680" cy="1042416"/>
          </a:xfrm>
          <a:prstGeom prst="roundRect">
            <a:avLst>
              <a:gd name="adj" fmla="val 7018"/>
            </a:avLst>
          </a:prstGeom>
          <a:solidFill>
            <a:srgbClr val="F2F5FC"/>
          </a:solidFill>
          <a:ln/>
          <a:effectLst>
            <a:outerShdw blurRad="88900" dist="25400" dir="2700000" algn="bl" rotWithShape="0">
              <a:srgbClr val="8A93A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0720" y="3730752"/>
            <a:ext cx="1600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315200" y="3730752"/>
            <a:ext cx="1325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predictoras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CASO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309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producción: scoring mensual que prioriza la agenda de retención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686008"/>
            <a:ext cx="1883664" cy="2084832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" y="183231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832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1792" y="23443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clientes activos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291130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contrato, servicios y facturación del mes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47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6167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651760" y="1686008"/>
            <a:ext cx="1883664" cy="2084832"/>
          </a:xfrm>
          <a:prstGeom prst="roundRect">
            <a:avLst>
              <a:gd name="adj" fmla="val 3883"/>
            </a:avLst>
          </a:prstGeom>
          <a:solidFill>
            <a:srgbClr val="1E2761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16352" y="1832312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16352" y="1832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16352" y="23443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16352" y="2789646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riesgo de churn por cliente (probabilidad calibrada)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247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6167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846320" y="1686008"/>
            <a:ext cx="1883664" cy="2084832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10912" y="183231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10912" y="1832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10912" y="23443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por riesgo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10912" y="2812415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cartera ordenada de mayor a menor score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247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6167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040880" y="1686008"/>
            <a:ext cx="1883664" cy="2084832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205472" y="183231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05472" y="1832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05472" y="227122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retención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05472" y="2812415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 el top-N según su capacidad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06999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Telco Customer Churn: 7.043 clientes × 21 variables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846320" cy="905256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35331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Demográficas (4)  </a:t>
            </a:r>
            <a:r>
              <a:rPr lang="en-US" sz="13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casi no discriminan</a:t>
            </a:r>
            <a:endParaRPr lang="en-US" sz="1450" dirty="0"/>
          </a:p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género, senior, pareja, dependientes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313432"/>
            <a:ext cx="4846320" cy="905256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238658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(9)  </a:t>
            </a:r>
            <a:r>
              <a:rPr lang="en-US" sz="13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señal en seguridad y soporte</a:t>
            </a:r>
            <a:endParaRPr lang="en-US" sz="1450" dirty="0"/>
          </a:p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teléfono, internet, seguridad, soporte, backup, streaming…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3346704"/>
            <a:ext cx="4846320" cy="905256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341985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y facturación (6)  </a:t>
            </a:r>
            <a:r>
              <a:rPr lang="en-US" sz="13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acá vive la mayor señal</a:t>
            </a:r>
            <a:endParaRPr lang="en-US" sz="1450" dirty="0"/>
          </a:p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contrato, antigüedad, método de pago, cargos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577840" y="1538129"/>
            <a:ext cx="3108960" cy="1156625"/>
          </a:xfrm>
          <a:prstGeom prst="roundRect">
            <a:avLst>
              <a:gd name="adj" fmla="val 2367"/>
            </a:avLst>
          </a:prstGeom>
          <a:solidFill>
            <a:srgbClr val="F2F5FC"/>
          </a:solidFill>
          <a:ln/>
          <a:effectLst>
            <a:outerShdw blurRad="88900" dist="25400" dir="2700000" algn="bl" rotWithShape="0">
              <a:srgbClr val="8A93A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06440" y="1783080"/>
            <a:ext cx="2697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US" sz="1300" dirty="0" err="1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</a:t>
            </a:r>
            <a:r>
              <a:rPr lang="en-US" sz="130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limpieza: TotalCharges vacío en 11 clientes nuevos (tenure = 0) → se imputa 0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ANÁLISIS EXPLORATORIO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churn se concentra en clientes nuevos, con contrato mensual y sin ataduras</a:t>
            </a:r>
            <a:endParaRPr lang="en-US" sz="2500" dirty="0"/>
          </a:p>
        </p:txBody>
      </p:sp>
      <p:pic>
        <p:nvPicPr>
          <p:cNvPr id="4" name="Image 0" descr="C:\Users\ftamaki\AppData\Local\Temp\claude\C--Users-ftamaki-Documents-ITBA-1C2026-Predictivo-Final-Predictivo-Churn\b51ce01d-8b76-4f78-a45d-b532a3a5bc3e\scratchpad\deck_assets\dri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658368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371600"/>
            <a:ext cx="1783080" cy="1407934"/>
          </a:xfrm>
          <a:prstGeom prst="roundRect">
            <a:avLst>
              <a:gd name="adj" fmla="val 4103"/>
            </a:avLst>
          </a:prstGeom>
          <a:solidFill>
            <a:srgbClr val="F2F5FC"/>
          </a:solidFill>
          <a:ln/>
          <a:effectLst>
            <a:outerShdw blurRad="88900" dist="25400" dir="2700000" algn="bl" rotWithShape="0">
              <a:srgbClr val="8A93A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33488" y="1536192"/>
            <a:ext cx="1481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clara y consistente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segmentos de riesgo casi duplican la </a:t>
            </a:r>
            <a:r>
              <a:rPr lang="en-US" sz="1250" dirty="0" err="1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</a:t>
            </a:r>
            <a:r>
              <a:rPr lang="en-US" sz="12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EVALUACIÓN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42991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26,5% de churn, la accuracy engaña: elegimos PR-AUC y F2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56132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2F5FC"/>
          </a:solidFill>
          <a:ln/>
          <a:effectLst>
            <a:outerShdw blurRad="88900" dist="25400" dir="2700000" algn="bl" rotWithShape="0">
              <a:srgbClr val="8A93A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129284"/>
            <a:ext cx="7772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“nadie se va” acierta el 73,5% de las veces </a:t>
            </a:r>
            <a:r>
              <a:rPr lang="en-US" sz="14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no retiene a nadie. Con clases desbalanceadas, la métrica tiene que mirar la clase minoritaria.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39572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PR-AUC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88950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comparar modelos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236976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precision y recall en todos los umbrales, enfocada en la clase positiva. Un modelo sin información da 0,265 (la prevalencia); ROC-AUC, en cambio, luce optimista con clases desbalanceadas.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224028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239572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288950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elegir el umbral operativo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3236976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armónica que pesa el recall 4 veces más que la precision: perder un cliente sin intentar retenerlo cuesta más que hacer una oferta de más. Define el punto de corte del score.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EVALUACIÓN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74904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decisiones dentro de train; el test se toca una sola vez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583680" cy="603504"/>
          </a:xfrm>
          <a:prstGeom prst="roundRect">
            <a:avLst>
              <a:gd name="adj" fmla="val 757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14032" y="1463040"/>
            <a:ext cx="1572768" cy="603504"/>
          </a:xfrm>
          <a:prstGeom prst="roundRect">
            <a:avLst>
              <a:gd name="adj" fmla="val 7576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TRAIN · 5.634 clientes (80%)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14032" y="146304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· 1.409 (20%)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cruzada estratificada de 5 folds sobre train → cada observación recibe un score de un modelo que no la vio (out-of-fold)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944368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10512" y="2944368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63824" y="2944368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17136" y="2944368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70448" y="2944368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10512" y="3273552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63824" y="3273552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17136" y="3273552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870448" y="3273552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602736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810512" y="3602736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63824" y="3602736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17136" y="3602736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870448" y="3602736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10512" y="3931920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63824" y="3931920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17136" y="3931920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870448" y="3931920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4261104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810512" y="4261104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163824" y="4261104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17136" y="4261104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870448" y="4261104"/>
            <a:ext cx="1243584" cy="256032"/>
          </a:xfrm>
          <a:prstGeom prst="roundRect">
            <a:avLst>
              <a:gd name="adj" fmla="val 10714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4663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entrena 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223760" y="2926080"/>
            <a:ext cx="1691640" cy="1261872"/>
          </a:xfrm>
          <a:prstGeom prst="roundRect">
            <a:avLst>
              <a:gd name="adj" fmla="val 4324"/>
            </a:avLst>
          </a:prstGeom>
          <a:solidFill>
            <a:srgbClr val="F2F5FC"/>
          </a:solidFill>
          <a:ln/>
          <a:effectLst>
            <a:outerShdw blurRad="88900" dist="25400" dir="2700000" algn="bl" rotWithShape="0">
              <a:srgbClr val="8A93A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60920" y="3072384"/>
            <a:ext cx="14447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leakage</a:t>
            </a:r>
            <a:endParaRPr lang="en-US" sz="1350" dirty="0"/>
          </a:p>
          <a:p>
            <a:pPr marL="0" indent="0">
              <a:buNone/>
            </a:pPr>
            <a:r>
              <a:rPr lang="en-US" sz="120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y escalado se ajustan dentro de cada fold (Pipelines de sklearn)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41605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" y="1106424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99669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servicios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de los 8 servicios contrata cada cliente — a más servicios, menos churn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41605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" y="1892808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78308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× antigüedad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interacción: el churn mes a mes se concentra en los clientes nuevos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41605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" y="2679192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2679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56946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por servicio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mensual relativo a la cantidad de servicios (precio percibido)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41605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" y="3465576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35584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Bandas de antigüedad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agrupado en tramos (0-6, 7-12, 13-24, 25-48, 49-72 meses)</a:t>
            </a:r>
            <a:endParaRPr lang="en-US" sz="1350" dirty="0"/>
          </a:p>
        </p:txBody>
      </p:sp>
      <p:pic>
        <p:nvPicPr>
          <p:cNvPr id="20" name="Image 0" descr="C:\Users\ftamaki\AppData\Local\Temp\claude\C--Users-ftamaki-Documents-ITBA-1C2026-Predictivo-Final-Predictivo-Churn\b51ce01d-8b76-4f78-a45d-b532a3a5bc3e\scratchpad\deck_assets\n_servic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069848"/>
            <a:ext cx="3840480" cy="247802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892040" y="35753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Evidencia: la tasa de churn cae del 46% (sin servicios) al 8% (con 6)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178808"/>
            <a:ext cx="8275320" cy="457200"/>
          </a:xfrm>
          <a:prstGeom prst="roundRect">
            <a:avLst>
              <a:gd name="adj" fmla="val 16000"/>
            </a:avLst>
          </a:prstGeom>
          <a:solidFill>
            <a:srgbClr val="F2F5FC"/>
          </a:solidFill>
          <a:ln/>
          <a:effectLst>
            <a:outerShdw blurRad="88900" dist="25400" dir="2700000" algn="bl" rotWithShape="0">
              <a:srgbClr val="8A93A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58368" y="41788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También: </a:t>
            </a:r>
            <a:r>
              <a:rPr lang="en-US" sz="11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unificamos los niveles redundantes (“No internet service” → “No”) y quitamos TotalCharges (≈ tenure × cargo mensual, redundante).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MODELO BASELINE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23924"/>
            <a:ext cx="85838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regresión logística sin tuning 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0,659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0,265 de un modelo sin información (2,5×)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3886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baseline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Rápida, interpretable y sin hiperparámetros críticos: la referencia que cualquier modelo complejo debe justificar superar.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r>
              <a:rPr lang="en-US" sz="150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19 variables crudas, one-hot + estandarización, en un Pipeline.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máximo: </a:t>
            </a:r>
            <a:r>
              <a:rPr lang="en-US" sz="150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0,752 — ya captura la mayor parte de la señal: las relaciones son mayormente lineales.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SELECCIÓN DE MODELOS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algoritmos × 2 sets de features, misma validación cruzada</a:t>
            </a:r>
            <a:endParaRPr lang="en-US" sz="2500" dirty="0"/>
          </a:p>
        </p:txBody>
      </p:sp>
      <p:pic>
        <p:nvPicPr>
          <p:cNvPr id="4" name="Image 0" descr="C:\Users\ftamaki\AppData\Local\Temp\claude\C--Users-ftamaki-Documents-ITBA-1C2026-Predictivo-Final-Predictivo-Churn\b51ce01d-8b76-4f78-a45d-b532a3a5bc3e\scratchpad\deck_assets\torn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542" y="1170432"/>
            <a:ext cx="5806440" cy="34107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SELECCIÓN DE MODELOS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tuning da vuelta el podio: el boosting tenía margen, la logística no</a:t>
            </a:r>
            <a:endParaRPr lang="en-US" sz="2500" dirty="0"/>
          </a:p>
        </p:txBody>
      </p:sp>
      <p:pic>
        <p:nvPicPr>
          <p:cNvPr id="4" name="Image 0" descr="C:\Users\ftamaki\AppData\Local\Temp\claude\C--Users-ftamaki-Documents-ITBA-1C2026-Predictivo-Final-Predictivo-Churn\b51ce01d-8b76-4f78-a45d-b532a3a5bc3e\scratchpad\deck_assets\boost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0432"/>
            <a:ext cx="5806440" cy="26791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37960" y="1188720"/>
            <a:ext cx="2240280" cy="1772483"/>
          </a:xfrm>
          <a:prstGeom prst="roundRect">
            <a:avLst>
              <a:gd name="adj" fmla="val 3265"/>
            </a:avLst>
          </a:prstGeom>
          <a:solidFill>
            <a:srgbClr val="F2F5FC"/>
          </a:solidFill>
          <a:ln/>
          <a:effectLst>
            <a:outerShdw blurRad="88900" dist="25400" dir="2700000" algn="bl" rotWithShape="0">
              <a:srgbClr val="8A93A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693408" y="1335024"/>
            <a:ext cx="19385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aleatoria: 25 configs × 5 folds por modelo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el mayor salto (+0,065) — con defaults sobreajustaba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logística mejora solo +0,003: ya estaba en su techo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3977640"/>
            <a:ext cx="8321040" cy="932688"/>
          </a:xfrm>
          <a:prstGeom prst="roundRect">
            <a:avLst>
              <a:gd name="adj" fmla="val 7843"/>
            </a:avLst>
          </a:prstGeom>
          <a:solidFill>
            <a:srgbClr val="F2F5FC"/>
          </a:solidFill>
          <a:ln/>
          <a:effectLst>
            <a:outerShdw blurRad="88900" dist="25400" dir="2700000" algn="bl" rotWithShape="0">
              <a:srgbClr val="8A93A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406908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probamos: </a:t>
            </a:r>
            <a:r>
              <a:rPr lang="en-US" sz="13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ensambles Voting y Stacking del top 3 (+0,001, ruido), CatBoost con categóricas nativas (empata) y un 2.º set de features (empeora). </a:t>
            </a:r>
            <a:r>
              <a:rPr lang="en-US" sz="13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justifica más complejidad → LightGBM.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MODELO FINAL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regularizado: el test confirma lo que la CV prometía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hojas · mín. 50 obs/hoja · learning rate 0,034 · 127 árboles · submuestreo 0,63 — fuerte regularización para 5.600 filas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24942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270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0,666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40080" y="23134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estimaba 0,672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9504" y="1417320"/>
            <a:ext cx="224942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72384" y="15270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72384" y="178308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89,6%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3072384" y="23134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 cada 10 churners detectados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224942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0449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30098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45,3%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640080" y="383133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la mitad de los contactados iba a irse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89504" y="2935224"/>
            <a:ext cx="224942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72384" y="30449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72384" y="330098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0,749</a:t>
            </a:r>
            <a:endParaRPr lang="en-US" sz="2900" dirty="0"/>
          </a:p>
        </p:txBody>
      </p:sp>
      <p:sp>
        <p:nvSpPr>
          <p:cNvPr id="20" name="Text 18"/>
          <p:cNvSpPr/>
          <p:nvPr/>
        </p:nvSpPr>
        <p:spPr>
          <a:xfrm>
            <a:off x="3072384" y="383133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umbral operativo 0,153</a:t>
            </a:r>
            <a:endParaRPr lang="en-US" sz="1100" dirty="0"/>
          </a:p>
        </p:txBody>
      </p:sp>
      <p:pic>
        <p:nvPicPr>
          <p:cNvPr id="21" name="Image 0" descr="C:\Users\ftamaki\AppData\Local\Temp\claude\C--Users-ftamaki-Documents-ITBA-1C2026-Predictivo-Final-Predictivo-Churn\b51ce01d-8b76-4f78-a45d-b532a3a5bc3e\scratchpad\deck_assets\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536192"/>
            <a:ext cx="3200400" cy="27523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200" y="45902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única sobre test (1.409 clientes) · CV ≈ test ⇒ metodología sin fugas de información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MODELO FINAL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elegido: 0,153 — donde el F2 es máximo</a:t>
            </a:r>
            <a:endParaRPr lang="en-US" sz="2500" dirty="0"/>
          </a:p>
        </p:txBody>
      </p:sp>
      <p:pic>
        <p:nvPicPr>
          <p:cNvPr id="4" name="Image 0" descr="C:\Users\ftamaki\AppData\Local\Temp\claude\C--Users-ftamaki-Documents-ITBA-1C2026-Predictivo-Final-Predictivo-Churn\b51ce01d-8b76-4f78-a45d-b532a3a5bc3e\scratchpad\deck_assets\umb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80644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37960" y="1261873"/>
            <a:ext cx="2240280" cy="2020278"/>
          </a:xfrm>
          <a:prstGeom prst="roundRect">
            <a:avLst>
              <a:gd name="adj" fmla="val 3265"/>
            </a:avLst>
          </a:prstGeom>
          <a:solidFill>
            <a:srgbClr val="F2F5FC"/>
          </a:solidFill>
          <a:ln/>
          <a:effectLst>
            <a:outerShdw blurRad="88900" dist="25400" dir="2700000" algn="bl" rotWithShape="0">
              <a:srgbClr val="8A93A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693408" y="1408176"/>
            <a:ext cx="193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tan bajo?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prioriza recall: conviene aceptar falsas alarmas antes que dejar escapar churners.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umbral estándar 0,5: precision 67% pero el recall cae a 53%.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MODELO FINAL — LECTURA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score a la acción: el modelo entrega el menú, el negocio elige el punto</a:t>
            </a:r>
            <a:endParaRPr lang="en-US" sz="2500" dirty="0"/>
          </a:p>
        </p:txBody>
      </p:sp>
      <p:pic>
        <p:nvPicPr>
          <p:cNvPr id="4" name="Image 0" descr="C:\Users\ftamaki\AppData\Local\Temp\claude\C--Users-ftamaki-Documents-ITBA-1C2026-Predictivo-Final-Predictivo-Churn\b51ce01d-8b76-4f78-a45d-b532a3a5bc3e\scratchpad\deck_assets\gana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850" y="1078992"/>
            <a:ext cx="5686235" cy="36529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MODELO FINAL — INTERPRETACIÓN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56616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aprendió lo que el EDA anticipaba (SHAP sobre test)</a:t>
            </a:r>
            <a:endParaRPr lang="en-US" sz="2500" dirty="0"/>
          </a:p>
        </p:txBody>
      </p:sp>
      <p:pic>
        <p:nvPicPr>
          <p:cNvPr id="4" name="Image 0" descr="C:\Users\ftamaki\AppData\Local\Temp\claude\C--Users-ftamaki-Documents-ITBA-1C2026-Predictivo-Final-Predictivo-Churn\b51ce01d-8b76-4f78-a45d-b532a3a5bc3e\scratchpad\deck_assets\sh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88720"/>
            <a:ext cx="5760720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46520" y="1261872"/>
            <a:ext cx="2331720" cy="2353339"/>
          </a:xfrm>
          <a:prstGeom prst="roundRect">
            <a:avLst>
              <a:gd name="adj" fmla="val 3137"/>
            </a:avLst>
          </a:prstGeom>
          <a:solidFill>
            <a:srgbClr val="F2F5FC"/>
          </a:solidFill>
          <a:ln/>
          <a:effectLst>
            <a:outerShdw blurRad="88900" dist="25400" dir="2700000" algn="bl" rotWithShape="0">
              <a:srgbClr val="8A93A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611112" y="1426464"/>
            <a:ext cx="202996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mes a mes: el driver dominante (impacto doble que el 2.º)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baja y fibra óptica empujan al churn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2 años y tener soporte/</a:t>
            </a:r>
            <a:r>
              <a:rPr lang="en-US" sz="1250" dirty="0" err="1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r>
              <a:rPr lang="en-US" sz="12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protegen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LIMITACIONES Y POSIBLES MEJORAS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techo no está en el algoritmo: está en los datos y en la decisión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28346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(la mejora nº 1)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un mes: features temporales (tendencia de gasto, cambios de plan, tickets recientes) son lo que más subiría el techo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de uso, reclamos ni satisfacción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Probamos 2 rondas de feature engineering: no </a:t>
            </a:r>
            <a:r>
              <a:rPr lang="en-US" sz="1350" dirty="0" err="1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aportan</a:t>
            </a:r>
            <a:r>
              <a:rPr lang="en-US" sz="13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 información nueva tiene que venir de afuera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1234440"/>
            <a:ext cx="3977640" cy="28346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8A93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(con el modelo actual)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umbral por valor esperado: prob. × valor del cliente × efectividad de la </a:t>
            </a:r>
            <a:r>
              <a:rPr lang="en-US" sz="1350" dirty="0" err="1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oferta-costo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modeling: targetear a los persuadibles, no solo a los que se van (requiere experimentos)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mensual del score y recalibración ante cambios de mix comercial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CONCLUSIONES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gana el negocio con este modelo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3840480" cy="1481328"/>
          </a:xfrm>
          <a:prstGeom prst="roundRect">
            <a:avLst>
              <a:gd name="adj" fmla="val 4938"/>
            </a:avLst>
          </a:prstGeom>
          <a:solidFill>
            <a:srgbClr val="2733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664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 la fuga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41248" y="2048256"/>
            <a:ext cx="3456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9 de cada 10 clientes que se van a dar de baja antes de que lo hagan, a tiempo para retenerlos.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536192"/>
            <a:ext cx="3840480" cy="1481328"/>
          </a:xfrm>
          <a:prstGeom prst="roundRect">
            <a:avLst>
              <a:gd name="adj" fmla="val 4938"/>
            </a:avLst>
          </a:prstGeom>
          <a:solidFill>
            <a:srgbClr val="2733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56048" y="1664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el porqué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956048" y="2048256"/>
            <a:ext cx="3456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mes a mes, cliente nuevo y falta de servicios de anclaje. Sugiere palancas: incentivar contratos largos y ofrecer bundles.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163824"/>
            <a:ext cx="3840480" cy="1481328"/>
          </a:xfrm>
          <a:prstGeom prst="roundRect">
            <a:avLst>
              <a:gd name="adj" fmla="val 4938"/>
            </a:avLst>
          </a:prstGeom>
          <a:solidFill>
            <a:srgbClr val="2733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 el esfuerzo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41248" y="3675888"/>
            <a:ext cx="3456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Contactando al 20% de mayor riesgo se alcanza a la mitad de las bajas. El equipo decide cuántos clientes contactar según su capacidad.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54880" y="3163824"/>
            <a:ext cx="3840480" cy="1481328"/>
          </a:xfrm>
          <a:prstGeom prst="roundRect">
            <a:avLst>
              <a:gd name="adj" fmla="val 4938"/>
            </a:avLst>
          </a:prstGeom>
          <a:solidFill>
            <a:srgbClr val="2733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56048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usar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956048" y="3675888"/>
            <a:ext cx="3456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 al ciclo de facturación mensual y entrega un ranking de clientes confiable, sin depender de datos que hoy no existan.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1807</Words>
  <Application>Microsoft Office PowerPoint</Application>
  <PresentationFormat>On-screen Show (16:9)</PresentationFormat>
  <Paragraphs>181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Churn — Examen Final Análisis Predictivo</dc:title>
  <dc:subject>PptxGenJS Presentation</dc:subject>
  <dc:creator>PptxGenJS</dc:creator>
  <cp:lastModifiedBy>Susana Ishida</cp:lastModifiedBy>
  <cp:revision>12</cp:revision>
  <dcterms:created xsi:type="dcterms:W3CDTF">2026-07-12T17:25:27Z</dcterms:created>
  <dcterms:modified xsi:type="dcterms:W3CDTF">2026-07-13T21:53:20Z</dcterms:modified>
</cp:coreProperties>
</file>