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3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6" d="100"/>
          <a:sy n="126" d="100"/>
        </p:scale>
        <p:origin x="202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31030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Presentacion de 15 minutos. Estructura: negocio -&gt; datos -&gt; metodologia -&gt; modelado -&gt; vuelta al negocio.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Enfatizar: el 26,5% es la foto de un mes. El costo asimetrico (perder cliente vs llamada de mas) justifica despues la eleccion de F2.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Anticipa la pregunta 'como funcionaria en produccion'. Idea clave: modelo = ranking; negocio = umbral.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 preguntan por actualizacion futura: la telco regenera estas variables con cada ciclo de facturacion mensual.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Contrato mes a mes 43% vs 3% en 2 anios. Cheque electronico 45%. Fibra 42% (posible tema precio/calidad). Demograficas casi neutras.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Pregunta tipica: por que no ROC-AUC. Respuesta: con 26,5% de positivos la curva ROC luce optimista porque los verdaderos negativos abundan; la curva PR es mas exigente y refleja el caso de uso (a quien llamo).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Punto para vender: la prueba de honestidad llega en la slide del modelo final (CV 0,672 vs test 0,666).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Estas features salieron del EDA. En la slide siguiente se comparan 'base' vs 'enriquecidas' en todos los modelos.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Adelanto del final: la logistica casi gana. Eso refuerza que elegir LightGBM despues requiere evidencia (el tuning).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Features enriquecidas = n_servicios, bandas de antiguedad, interaccion contrato x antiguedad, cargo por servicio. Evaluadas en TODOS los modelos para comparacion justa.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 preguntan por que LightGBM y no CatBoost/AdaBoost (diferencia 0,002, ruido): mejor score puntual + rapido + SHAP directo; la logistica quedo como alternativa parsimoniosa.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cercania CV-test (0,672 vs 0,666) es el argumento de honestidad metodologica. Reproducible al byte: re-ejecutar los notebooks regenera modelo y predicciones con hash identico.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Elegido sobre predicciones out-of-fold del train, nunca sobre test. Es el punto de partida: la slide siguiente muestra el menu completo si la capacidad es menor.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Aca se cierra el circulo con la slide 3: capacidad limitada -&gt; curva de ganancia. Brier 0,134 vs 0,195 del azar.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punto es un cliente del test. Rojo = valor alto de la feature. SHAP positivo = empuja hacia churn.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Mensaje: es un benchmark con techo conocido (~0,67 PR-AUC); mas algoritmo no mueve la aguja, mas datos 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 de negocio: anticipa la fuga, explica el porque, enfoca el esfuerzo, listo para usar. Detalles tecnicos (PR-AUC 0,666, recall 90%, metodologia) ya se cubrieron en las slides 11-14; aca el mensaje es el valor para el negocio.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14300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PREDICTIVO — EXAMEN FINAL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1536192"/>
            <a:ext cx="8138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Predicción de churn en una telco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26060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modelo para que el equipo de retención llegue antes que la baja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640080" y="402336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Felipe Tamaki</a:t>
            </a:r>
            <a:endParaRPr lang="en-US" sz="1450" dirty="0"/>
          </a:p>
          <a:p>
            <a:pPr marL="0" indent="0"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ITBA · 2026 · Dataset: IBM Telco Customer Churn</a:t>
            </a:r>
            <a:endParaRPr lang="en-US" sz="14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486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CASO DE NEGOCIO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321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Retener cuesta menos </a:t>
            </a:r>
            <a:r>
              <a:rPr lang="en-US" sz="2500" b="1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</a:t>
            </a: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500" b="1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adquirir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47091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</a:t>
            </a:r>
            <a:endParaRPr lang="en-US" sz="1550" dirty="0"/>
          </a:p>
          <a:p>
            <a:pPr marL="0" indent="0">
              <a:spcAft>
                <a:spcPts val="1200"/>
              </a:spcAft>
              <a:buNone/>
            </a:pPr>
            <a:r>
              <a:rPr lang="en-US" sz="1550" dirty="0">
                <a:solidFill>
                  <a:srgbClr val="2B31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la foto del dataset, 1 de cada 4 clientes se dio de baja. Cada churner es ingreso recurrente perdido y un costo de adquisición para reemplazarlo.</a:t>
            </a:r>
            <a:endParaRPr lang="en-US" sz="1550" dirty="0"/>
          </a:p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objetivo del modelo</a:t>
            </a:r>
            <a:endParaRPr lang="en-US" sz="1550" dirty="0"/>
          </a:p>
          <a:p>
            <a:pPr marL="0" indent="0">
              <a:spcAft>
                <a:spcPts val="1200"/>
              </a:spcAft>
              <a:buNone/>
            </a:pPr>
            <a:r>
              <a:rPr lang="en-US" sz="1550" dirty="0">
                <a:solidFill>
                  <a:srgbClr val="2B31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Estimar, para cada cliente activo, la probabilidad de baja el próximo mes, para que retención actúe proactivamente: oferta, cambio de plan o contacto directo.</a:t>
            </a:r>
            <a:endParaRPr lang="en-US" sz="1550" dirty="0"/>
          </a:p>
          <a:p>
            <a:pPr marL="0" indent="0">
              <a:buNone/>
            </a:pPr>
            <a:r>
              <a:rPr lang="en-US" sz="15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 observacional: </a:t>
            </a:r>
            <a:r>
              <a:rPr lang="en-US" sz="1550" dirty="0">
                <a:solidFill>
                  <a:srgbClr val="2B31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activo.</a:t>
            </a:r>
            <a:endParaRPr lang="en-US" sz="1550" dirty="0"/>
          </a:p>
          <a:p>
            <a:pPr marL="0" indent="0">
              <a:buNone/>
            </a:pPr>
            <a:r>
              <a:rPr lang="en-US" sz="15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 respuesta: </a:t>
            </a:r>
            <a:r>
              <a:rPr lang="en-US" sz="1550" dirty="0">
                <a:solidFill>
                  <a:srgbClr val="2B31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 (Sí/No).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5532120" y="1188720"/>
            <a:ext cx="3154680" cy="1042416"/>
          </a:xfrm>
          <a:prstGeom prst="roundRect">
            <a:avLst>
              <a:gd name="adj" fmla="val 7018"/>
            </a:avLst>
          </a:prstGeom>
          <a:solidFill>
            <a:srgbClr val="F2F5FC"/>
          </a:solidFill>
          <a:ln/>
          <a:effectLst>
            <a:outerShdw blurRad="88900" dist="25400" dir="2700000" algn="bl" rotWithShape="0">
              <a:srgbClr val="8A93A6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760720" y="1280160"/>
            <a:ext cx="16002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26,5%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7315200" y="1280160"/>
            <a:ext cx="132588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 de churn mensual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532120" y="2414016"/>
            <a:ext cx="3154680" cy="1042416"/>
          </a:xfrm>
          <a:prstGeom prst="roundRect">
            <a:avLst>
              <a:gd name="adj" fmla="val 7018"/>
            </a:avLst>
          </a:prstGeom>
          <a:solidFill>
            <a:srgbClr val="F2F5FC"/>
          </a:solidFill>
          <a:ln/>
          <a:effectLst>
            <a:outerShdw blurRad="88900" dist="25400" dir="2700000" algn="bl" rotWithShape="0">
              <a:srgbClr val="8A93A6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760720" y="2505456"/>
            <a:ext cx="16002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7.043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7315200" y="2505456"/>
            <a:ext cx="132588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 en la base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532120" y="3639312"/>
            <a:ext cx="3154680" cy="1042416"/>
          </a:xfrm>
          <a:prstGeom prst="roundRect">
            <a:avLst>
              <a:gd name="adj" fmla="val 7018"/>
            </a:avLst>
          </a:prstGeom>
          <a:solidFill>
            <a:srgbClr val="F2F5FC"/>
          </a:solidFill>
          <a:ln/>
          <a:effectLst>
            <a:outerShdw blurRad="88900" dist="25400" dir="2700000" algn="bl" rotWithShape="0">
              <a:srgbClr val="8A93A6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760720" y="3730752"/>
            <a:ext cx="16002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7315200" y="3730752"/>
            <a:ext cx="132588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predictoras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486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CASO DE NEGOCIO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30940"/>
            <a:ext cx="8321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producción: scoring mensual que prioriza la agenda de retención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1686008"/>
            <a:ext cx="1883664" cy="2084832"/>
          </a:xfrm>
          <a:prstGeom prst="roundRect">
            <a:avLst>
              <a:gd name="adj" fmla="val 3883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8A93A6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621792" y="1832312"/>
            <a:ext cx="420624" cy="420624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21792" y="1832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E2761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21792" y="2344376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clientes activos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21792" y="2911304"/>
            <a:ext cx="1554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contrato, servicios y facturación del mes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286000" y="2472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96167"/>
                </a:solidFill>
              </a:rPr>
              <a:t>→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2651760" y="1686008"/>
            <a:ext cx="1883664" cy="2084832"/>
          </a:xfrm>
          <a:prstGeom prst="roundRect">
            <a:avLst>
              <a:gd name="adj" fmla="val 3883"/>
            </a:avLst>
          </a:prstGeom>
          <a:solidFill>
            <a:srgbClr val="1E2761"/>
          </a:solidFill>
          <a:ln/>
          <a:effectLst>
            <a:outerShdw blurRad="88900" dist="25400" dir="2700000" algn="bl" rotWithShape="0">
              <a:srgbClr val="8A93A6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816352" y="1832312"/>
            <a:ext cx="420624" cy="420624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816352" y="1832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816352" y="2344376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816352" y="2911304"/>
            <a:ext cx="1554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de riesgo de churn por cliente (probabilidad calibrada)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480560" y="2472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96167"/>
                </a:solidFill>
              </a:rPr>
              <a:t>→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4846320" y="1686008"/>
            <a:ext cx="1883664" cy="2084832"/>
          </a:xfrm>
          <a:prstGeom prst="roundRect">
            <a:avLst>
              <a:gd name="adj" fmla="val 3883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8A93A6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5010912" y="1832312"/>
            <a:ext cx="420624" cy="420624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010912" y="1832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E2761"/>
                </a:solidFill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010912" y="2344376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Ranking por riesgo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010912" y="2911304"/>
            <a:ext cx="1554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cartera ordenada de mayor a menor score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675120" y="2472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96167"/>
                </a:solidFill>
              </a:rPr>
              <a:t>→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7040880" y="1686008"/>
            <a:ext cx="1883664" cy="2084832"/>
          </a:xfrm>
          <a:prstGeom prst="roundRect">
            <a:avLst>
              <a:gd name="adj" fmla="val 3883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8A93A6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7205472" y="1832312"/>
            <a:ext cx="420624" cy="420624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7205472" y="1832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E2761"/>
                </a:solidFill>
              </a:rPr>
              <a:t>4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7205472" y="2344376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 de retención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205472" y="2911304"/>
            <a:ext cx="1554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contacta el top-N según su capacidad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486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DATASET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406999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 Telco Customer Churn: 7.043 clientes × 21 variables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4846320" cy="905256"/>
          </a:xfrm>
          <a:prstGeom prst="roundRect">
            <a:avLst>
              <a:gd name="adj" fmla="val 8081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8A93A6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58368" y="1353312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Demográficas (4)  </a:t>
            </a:r>
            <a:r>
              <a:rPr lang="en-US" sz="1300" i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casi no discriminan</a:t>
            </a:r>
            <a:endParaRPr lang="en-US" sz="1450" dirty="0"/>
          </a:p>
          <a:p>
            <a:pPr marL="0" indent="0">
              <a:buNone/>
            </a:pPr>
            <a:r>
              <a:rPr lang="en-US" sz="12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género, senior, pareja, dependientes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457200" y="2313432"/>
            <a:ext cx="4846320" cy="905256"/>
          </a:xfrm>
          <a:prstGeom prst="roundRect">
            <a:avLst>
              <a:gd name="adj" fmla="val 8081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8A93A6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58368" y="2386584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Servicios (9)  </a:t>
            </a:r>
            <a:r>
              <a:rPr lang="en-US" sz="1300" i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señal en seguridad y soporte</a:t>
            </a:r>
            <a:endParaRPr lang="en-US" sz="1450" dirty="0"/>
          </a:p>
          <a:p>
            <a:pPr marL="0" indent="0">
              <a:buNone/>
            </a:pPr>
            <a:r>
              <a:rPr lang="en-US" sz="12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teléfono, internet, seguridad, soporte, backup, streaming…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457200" y="3346704"/>
            <a:ext cx="4846320" cy="905256"/>
          </a:xfrm>
          <a:prstGeom prst="roundRect">
            <a:avLst>
              <a:gd name="adj" fmla="val 8081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8A93A6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58368" y="3419856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y facturación (6)  </a:t>
            </a:r>
            <a:r>
              <a:rPr lang="en-US" sz="1300" i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acá vive la mayor señal</a:t>
            </a:r>
            <a:endParaRPr lang="en-US" sz="1450" dirty="0"/>
          </a:p>
          <a:p>
            <a:pPr marL="0" indent="0">
              <a:buNone/>
            </a:pPr>
            <a:r>
              <a:rPr lang="en-US" sz="12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contrato, antigüedad, método de pago, cargos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577840" y="1280160"/>
            <a:ext cx="3108960" cy="2280550"/>
          </a:xfrm>
          <a:prstGeom prst="roundRect">
            <a:avLst>
              <a:gd name="adj" fmla="val 2367"/>
            </a:avLst>
          </a:prstGeom>
          <a:solidFill>
            <a:srgbClr val="F2F5FC"/>
          </a:solidFill>
          <a:ln/>
          <a:effectLst>
            <a:outerShdw blurRad="88900" dist="25400" dir="2700000" algn="bl" rotWithShape="0">
              <a:srgbClr val="8A93A6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806440" y="1417320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Limitaciones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806440" y="1783080"/>
            <a:ext cx="26974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31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 de un solo mes: sin historia ni tendencias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31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datos de uso, reclamos ni satisfacción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B31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Única limpieza: TotalCharges vacío en 11 clientes nuevos (tenure = 0) → se imputa 0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486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ANÁLISIS EXPLORATORIO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8321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churn se concentra en clientes nuevos, con contrato mensual y sin ataduras</a:t>
            </a:r>
            <a:endParaRPr lang="en-US" sz="2500" dirty="0"/>
          </a:p>
        </p:txBody>
      </p:sp>
      <p:pic>
        <p:nvPicPr>
          <p:cNvPr id="4" name="Image 0" descr="C:\Users\ftamaki\AppData\Local\Temp\claude\C--Users-ftamaki-Documents-ITBA-1C2026-Predictivo-Final-Predictivo-Churn\b51ce01d-8b76-4f78-a45d-b532a3a5bc3e\scratchpad\deck_assets\driv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34440"/>
            <a:ext cx="6583680" cy="30175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178040" y="1371600"/>
            <a:ext cx="1783080" cy="1407934"/>
          </a:xfrm>
          <a:prstGeom prst="roundRect">
            <a:avLst>
              <a:gd name="adj" fmla="val 4103"/>
            </a:avLst>
          </a:prstGeom>
          <a:solidFill>
            <a:srgbClr val="F2F5FC"/>
          </a:solidFill>
          <a:ln/>
          <a:effectLst>
            <a:outerShdw blurRad="88900" dist="25400" dir="2700000" algn="bl" rotWithShape="0">
              <a:srgbClr val="8A93A6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7333488" y="1536192"/>
            <a:ext cx="1481328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Señal clara y consistente</a:t>
            </a:r>
            <a:endParaRPr lang="en-US" sz="14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2B31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segmentos de riesgo casi duplican la </a:t>
            </a:r>
            <a:r>
              <a:rPr lang="en-US" sz="1250" dirty="0" err="1">
                <a:solidFill>
                  <a:srgbClr val="2B31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</a:t>
            </a:r>
            <a:r>
              <a:rPr lang="en-US" sz="1250" dirty="0">
                <a:solidFill>
                  <a:srgbClr val="2B31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global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486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EVALUACIÓN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42991"/>
            <a:ext cx="8321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26,5% de churn, la accuracy engaña: elegimos PR-AUC y F2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1056132"/>
            <a:ext cx="8229600" cy="841248"/>
          </a:xfrm>
          <a:prstGeom prst="roundRect">
            <a:avLst>
              <a:gd name="adj" fmla="val 8696"/>
            </a:avLst>
          </a:prstGeom>
          <a:solidFill>
            <a:srgbClr val="F2F5FC"/>
          </a:solidFill>
          <a:ln/>
          <a:effectLst>
            <a:outerShdw blurRad="88900" dist="25400" dir="2700000" algn="bl" rotWithShape="0">
              <a:srgbClr val="8A93A6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85800" y="1129284"/>
            <a:ext cx="77724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Predecir “nadie se va” acierta el 73,5% de las veces </a:t>
            </a:r>
            <a:r>
              <a:rPr lang="en-US" sz="1450" dirty="0">
                <a:solidFill>
                  <a:srgbClr val="2B31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no retiene a nadie. Con clases desbalanceadas, la métrica tiene que mirar la clase minoritaria.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457200" y="2240280"/>
            <a:ext cx="3977640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8A93A6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85800" y="2395728"/>
            <a:ext cx="3520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PR-AUC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685800" y="2889504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comparar modelos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85800" y="3236976"/>
            <a:ext cx="35204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B31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 precision y recall en todos los umbrales, enfocada en la clase positiva. Un modelo sin información da 0,265 (la prevalencia); ROC-AUC, en cambio, luce optimista con clases desbalanceadas.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709160" y="2240280"/>
            <a:ext cx="3977640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8A93A6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937760" y="2395728"/>
            <a:ext cx="3520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4937760" y="2889504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elegir el umbral operativo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937760" y="3236976"/>
            <a:ext cx="35204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B31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 armónica que pesa el recall 4 veces más que la precision: perder un cliente sin intentar retenerlo cuesta más que hacer una oferta de más. Define el punto de corte del score.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486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EVALUACIÓN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74904"/>
            <a:ext cx="8321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Todas las decisiones dentro de train; el test se toca una sola vez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6583680" cy="603504"/>
          </a:xfrm>
          <a:prstGeom prst="roundRect">
            <a:avLst>
              <a:gd name="adj" fmla="val 7576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114032" y="1463040"/>
            <a:ext cx="1572768" cy="603504"/>
          </a:xfrm>
          <a:prstGeom prst="roundRect">
            <a:avLst>
              <a:gd name="adj" fmla="val 7576"/>
            </a:avLst>
          </a:prstGeom>
          <a:solidFill>
            <a:srgbClr val="F9616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1463040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</a:rPr>
              <a:t>TRAIN · 5.634 clientes (80%)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114032" y="1463040"/>
            <a:ext cx="15727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TEST · 1.409 (20%)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267712"/>
            <a:ext cx="6583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Validación cruzada estratificada de 5 folds sobre train → cada observación recibe un score de un modelo que no la vio (out-of-fold)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57200" y="2944368"/>
            <a:ext cx="1243584" cy="256032"/>
          </a:xfrm>
          <a:prstGeom prst="roundRect">
            <a:avLst>
              <a:gd name="adj" fmla="val 10714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1810512" y="2944368"/>
            <a:ext cx="1243584" cy="256032"/>
          </a:xfrm>
          <a:prstGeom prst="roundRect">
            <a:avLst>
              <a:gd name="adj" fmla="val 10714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163824" y="2944368"/>
            <a:ext cx="1243584" cy="256032"/>
          </a:xfrm>
          <a:prstGeom prst="roundRect">
            <a:avLst>
              <a:gd name="adj" fmla="val 10714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517136" y="2944368"/>
            <a:ext cx="1243584" cy="256032"/>
          </a:xfrm>
          <a:prstGeom prst="roundRect">
            <a:avLst>
              <a:gd name="adj" fmla="val 10714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5870448" y="2944368"/>
            <a:ext cx="1243584" cy="256032"/>
          </a:xfrm>
          <a:prstGeom prst="roundRect">
            <a:avLst>
              <a:gd name="adj" fmla="val 10714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57200" y="3273552"/>
            <a:ext cx="1243584" cy="256032"/>
          </a:xfrm>
          <a:prstGeom prst="roundRect">
            <a:avLst>
              <a:gd name="adj" fmla="val 10714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1810512" y="3273552"/>
            <a:ext cx="1243584" cy="256032"/>
          </a:xfrm>
          <a:prstGeom prst="roundRect">
            <a:avLst>
              <a:gd name="adj" fmla="val 10714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3163824" y="3273552"/>
            <a:ext cx="1243584" cy="256032"/>
          </a:xfrm>
          <a:prstGeom prst="roundRect">
            <a:avLst>
              <a:gd name="adj" fmla="val 10714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517136" y="3273552"/>
            <a:ext cx="1243584" cy="256032"/>
          </a:xfrm>
          <a:prstGeom prst="roundRect">
            <a:avLst>
              <a:gd name="adj" fmla="val 10714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5870448" y="3273552"/>
            <a:ext cx="1243584" cy="256032"/>
          </a:xfrm>
          <a:prstGeom prst="roundRect">
            <a:avLst>
              <a:gd name="adj" fmla="val 10714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57200" y="3602736"/>
            <a:ext cx="1243584" cy="256032"/>
          </a:xfrm>
          <a:prstGeom prst="roundRect">
            <a:avLst>
              <a:gd name="adj" fmla="val 10714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1810512" y="3602736"/>
            <a:ext cx="1243584" cy="256032"/>
          </a:xfrm>
          <a:prstGeom prst="roundRect">
            <a:avLst>
              <a:gd name="adj" fmla="val 10714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3163824" y="3602736"/>
            <a:ext cx="1243584" cy="256032"/>
          </a:xfrm>
          <a:prstGeom prst="roundRect">
            <a:avLst>
              <a:gd name="adj" fmla="val 10714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4517136" y="3602736"/>
            <a:ext cx="1243584" cy="256032"/>
          </a:xfrm>
          <a:prstGeom prst="roundRect">
            <a:avLst>
              <a:gd name="adj" fmla="val 10714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5870448" y="3602736"/>
            <a:ext cx="1243584" cy="256032"/>
          </a:xfrm>
          <a:prstGeom prst="roundRect">
            <a:avLst>
              <a:gd name="adj" fmla="val 10714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457200" y="3931920"/>
            <a:ext cx="1243584" cy="256032"/>
          </a:xfrm>
          <a:prstGeom prst="roundRect">
            <a:avLst>
              <a:gd name="adj" fmla="val 10714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1810512" y="3931920"/>
            <a:ext cx="1243584" cy="256032"/>
          </a:xfrm>
          <a:prstGeom prst="roundRect">
            <a:avLst>
              <a:gd name="adj" fmla="val 10714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3163824" y="3931920"/>
            <a:ext cx="1243584" cy="256032"/>
          </a:xfrm>
          <a:prstGeom prst="roundRect">
            <a:avLst>
              <a:gd name="adj" fmla="val 10714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4517136" y="3931920"/>
            <a:ext cx="1243584" cy="256032"/>
          </a:xfrm>
          <a:prstGeom prst="roundRect">
            <a:avLst>
              <a:gd name="adj" fmla="val 10714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5870448" y="3931920"/>
            <a:ext cx="1243584" cy="256032"/>
          </a:xfrm>
          <a:prstGeom prst="roundRect">
            <a:avLst>
              <a:gd name="adj" fmla="val 10714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457200" y="4261104"/>
            <a:ext cx="1243584" cy="256032"/>
          </a:xfrm>
          <a:prstGeom prst="roundRect">
            <a:avLst>
              <a:gd name="adj" fmla="val 10714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1810512" y="4261104"/>
            <a:ext cx="1243584" cy="256032"/>
          </a:xfrm>
          <a:prstGeom prst="roundRect">
            <a:avLst>
              <a:gd name="adj" fmla="val 10714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3163824" y="4261104"/>
            <a:ext cx="1243584" cy="256032"/>
          </a:xfrm>
          <a:prstGeom prst="roundRect">
            <a:avLst>
              <a:gd name="adj" fmla="val 10714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4517136" y="4261104"/>
            <a:ext cx="1243584" cy="256032"/>
          </a:xfrm>
          <a:prstGeom prst="roundRect">
            <a:avLst>
              <a:gd name="adj" fmla="val 10714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5870448" y="4261104"/>
            <a:ext cx="1243584" cy="256032"/>
          </a:xfrm>
          <a:prstGeom prst="roundRect">
            <a:avLst>
              <a:gd name="adj" fmla="val 10714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457200" y="466344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</a:t>
            </a:r>
            <a:r>
              <a:rPr lang="en-US" sz="12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entrena   </a:t>
            </a: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</a:t>
            </a:r>
            <a:r>
              <a:rPr lang="en-US" sz="12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valida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7223760" y="2926080"/>
            <a:ext cx="1691640" cy="1261872"/>
          </a:xfrm>
          <a:prstGeom prst="roundRect">
            <a:avLst>
              <a:gd name="adj" fmla="val 4324"/>
            </a:avLst>
          </a:prstGeom>
          <a:solidFill>
            <a:srgbClr val="F2F5FC"/>
          </a:solidFill>
          <a:ln/>
          <a:effectLst>
            <a:outerShdw blurRad="88900" dist="25400" dir="2700000" algn="bl" rotWithShape="0">
              <a:srgbClr val="8A93A6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7360920" y="3072384"/>
            <a:ext cx="1444752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700"/>
              </a:spcAft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leakage</a:t>
            </a:r>
            <a:endParaRPr lang="en-US" sz="1350" dirty="0"/>
          </a:p>
          <a:p>
            <a:pPr marL="0" indent="0">
              <a:buNone/>
            </a:pPr>
            <a:r>
              <a:rPr lang="en-US" sz="1200" dirty="0">
                <a:solidFill>
                  <a:srgbClr val="2B31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Encoding y escalado se ajustan dentro de cada fold (Pipelines de sklearn)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486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SELECCIÓN DE MODELOS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8321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932688"/>
            <a:ext cx="4160520" cy="676656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8A93A6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621792" y="1106424"/>
            <a:ext cx="329184" cy="329184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21792" y="11064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761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97280" y="996696"/>
            <a:ext cx="3429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Cantidad de servicios</a:t>
            </a:r>
            <a:endParaRPr lang="en-US" sz="1350" dirty="0"/>
          </a:p>
          <a:p>
            <a:pPr marL="0" indent="0">
              <a:buNone/>
            </a:pPr>
            <a:r>
              <a:rPr lang="en-US" sz="10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cuántos de los 8 servicios contrata cada cliente — a más servicios, menos churn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57200" y="1719072"/>
            <a:ext cx="4160520" cy="676656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8A93A6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621792" y="1892808"/>
            <a:ext cx="329184" cy="329184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21792" y="18928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76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97280" y="1783080"/>
            <a:ext cx="3429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× antigüedad</a:t>
            </a:r>
            <a:endParaRPr lang="en-US" sz="1350" dirty="0"/>
          </a:p>
          <a:p>
            <a:pPr marL="0" indent="0">
              <a:buNone/>
            </a:pPr>
            <a:r>
              <a:rPr lang="en-US" sz="10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interacción: el churn mes a mes se concentra en los clientes nuevos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505456"/>
            <a:ext cx="4160520" cy="676656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8A93A6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621792" y="2679192"/>
            <a:ext cx="329184" cy="329184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21792" y="26791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761"/>
                </a:solidFill>
              </a:rPr>
              <a:t>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97280" y="2569464"/>
            <a:ext cx="3429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Cargo por servicio</a:t>
            </a:r>
            <a:endParaRPr lang="en-US" sz="1350" dirty="0"/>
          </a:p>
          <a:p>
            <a:pPr marL="0" indent="0">
              <a:buNone/>
            </a:pPr>
            <a:r>
              <a:rPr lang="en-US" sz="10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 mensual relativo a la cantidad de servicios (precio percibido)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457200" y="3291840"/>
            <a:ext cx="4160520" cy="676656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8A93A6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621792" y="3465576"/>
            <a:ext cx="329184" cy="329184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21792" y="34655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761"/>
                </a:solidFill>
              </a:rPr>
              <a:t>4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097280" y="3355848"/>
            <a:ext cx="3429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Bandas de antigüedad</a:t>
            </a:r>
            <a:endParaRPr lang="en-US" sz="1350" dirty="0"/>
          </a:p>
          <a:p>
            <a:pPr marL="0" indent="0">
              <a:buNone/>
            </a:pPr>
            <a:r>
              <a:rPr lang="en-US" sz="10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tenure agrupado en tramos (0-6, 7-12, 13-24, 25-48, 49-72 meses)</a:t>
            </a:r>
            <a:endParaRPr lang="en-US" sz="1350" dirty="0"/>
          </a:p>
        </p:txBody>
      </p:sp>
      <p:pic>
        <p:nvPicPr>
          <p:cNvPr id="20" name="Image 0" descr="C:\Users\ftamaki\AppData\Local\Temp\claude\C--Users-ftamaki-Documents-ITBA-1C2026-Predictivo-Final-Predictivo-Churn\b51ce01d-8b76-4f78-a45d-b532a3a5bc3e\scratchpad\deck_assets\n_servici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069848"/>
            <a:ext cx="3840480" cy="2478024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4892040" y="357530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Evidencia: la tasa de churn cae del 46% (sin servicios) al 8% (con 6)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457200" y="4178808"/>
            <a:ext cx="8275320" cy="457200"/>
          </a:xfrm>
          <a:prstGeom prst="roundRect">
            <a:avLst>
              <a:gd name="adj" fmla="val 16000"/>
            </a:avLst>
          </a:prstGeom>
          <a:solidFill>
            <a:srgbClr val="F2F5FC"/>
          </a:solidFill>
          <a:ln/>
          <a:effectLst>
            <a:outerShdw blurRad="88900" dist="25400" dir="2700000" algn="bl" rotWithShape="0">
              <a:srgbClr val="8A93A6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658368" y="417880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También: </a:t>
            </a:r>
            <a:r>
              <a:rPr lang="en-US" sz="1150" dirty="0">
                <a:solidFill>
                  <a:srgbClr val="2B31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unificamos los niveles redundantes (“No internet service” → “No”) y quitamos TotalCharges (≈ tenure × cargo mensual, redundante).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486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MODELO BASELINE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423924"/>
            <a:ext cx="858385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Baseline: regresión logística sin tuning — una vara sorprendentemente alta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023360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8A93A6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77240" y="160020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PR-AUC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777240" y="1920240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0,659</a:t>
            </a:r>
            <a:endParaRPr lang="en-US" sz="6400" dirty="0"/>
          </a:p>
        </p:txBody>
      </p:sp>
      <p:sp>
        <p:nvSpPr>
          <p:cNvPr id="7" name="Text 5"/>
          <p:cNvSpPr/>
          <p:nvPr/>
        </p:nvSpPr>
        <p:spPr>
          <a:xfrm>
            <a:off x="777240" y="306324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0,265 de un modelo sin información (2,5×)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846320" y="1417320"/>
            <a:ext cx="38862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este baseline</a:t>
            </a:r>
            <a:endParaRPr lang="en-US" sz="1500" dirty="0"/>
          </a:p>
          <a:p>
            <a:pPr marL="0" indent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2B31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Rápida, interpretable y sin hiperparámetros críticos: la referencia que cualquier modelo complejo debe justificar superar.</a:t>
            </a:r>
            <a:endParaRPr lang="en-US" sz="1500" dirty="0"/>
          </a:p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Features: </a:t>
            </a:r>
            <a:r>
              <a:rPr lang="en-US" sz="1500" dirty="0">
                <a:solidFill>
                  <a:srgbClr val="2B31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19 variables crudas, one-hot + estandarización, en un Pipeline.</a:t>
            </a:r>
            <a:endParaRPr lang="en-US" sz="1500" dirty="0"/>
          </a:p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F2 máximo: </a:t>
            </a:r>
            <a:r>
              <a:rPr lang="en-US" sz="1500" dirty="0">
                <a:solidFill>
                  <a:srgbClr val="2B31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0,752 — ya captura la mayor parte de la señal: las relaciones son mayormente lineales.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486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SELECCIÓN DE MODELOS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402336"/>
            <a:ext cx="8321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algoritmos × 2 sets de features, misma validación cruzada</a:t>
            </a:r>
            <a:endParaRPr lang="en-US" sz="2500" dirty="0"/>
          </a:p>
        </p:txBody>
      </p:sp>
      <p:pic>
        <p:nvPicPr>
          <p:cNvPr id="4" name="Image 0" descr="C:\Users\ftamaki\AppData\Local\Temp\claude\C--Users-ftamaki-Documents-ITBA-1C2026-Predictivo-Final-Predictivo-Churn\b51ce01d-8b76-4f78-a45d-b532a3a5bc3e\scratchpad\deck_assets\torne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170432"/>
            <a:ext cx="5806440" cy="341071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766560" y="1298448"/>
            <a:ext cx="2057400" cy="2244095"/>
          </a:xfrm>
          <a:prstGeom prst="roundRect">
            <a:avLst>
              <a:gd name="adj" fmla="val 3556"/>
            </a:avLst>
          </a:prstGeom>
          <a:solidFill>
            <a:srgbClr val="F2F5FC"/>
          </a:solidFill>
          <a:ln/>
          <a:effectLst>
            <a:outerShdw blurRad="88900" dist="25400" dir="2700000" algn="bl" rotWithShape="0">
              <a:srgbClr val="8A93A6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6922008" y="1444752"/>
            <a:ext cx="1755648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defaults, nadie le gana a la logística</a:t>
            </a:r>
            <a:endParaRPr lang="en-US" sz="1350" dirty="0"/>
          </a:p>
          <a:p>
            <a:pPr marL="0" indent="0">
              <a:spcAft>
                <a:spcPts val="900"/>
              </a:spcAft>
              <a:buNone/>
            </a:pPr>
            <a:r>
              <a:rPr lang="en-US" sz="1250" dirty="0">
                <a:solidFill>
                  <a:srgbClr val="2B31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feature engineering ayuda a los lineales; los árboles encuentran las interacciones solos</a:t>
            </a:r>
            <a:endParaRPr lang="en-US" sz="1350" dirty="0"/>
          </a:p>
          <a:p>
            <a:pPr marL="0" indent="0">
              <a:buNone/>
            </a:pPr>
            <a:r>
              <a:rPr lang="en-US" sz="125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5 separados por &lt; 0,02 → la definición queda para el tuning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486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SELECCIÓN DE MODELOS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8321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tuning da vuelta el podio: el boosting tenía margen, la logística no</a:t>
            </a:r>
            <a:endParaRPr lang="en-US" sz="2500" dirty="0"/>
          </a:p>
        </p:txBody>
      </p:sp>
      <p:pic>
        <p:nvPicPr>
          <p:cNvPr id="4" name="Image 0" descr="C:\Users\ftamaki\AppData\Local\Temp\claude\C--Users-ftamaki-Documents-ITBA-1C2026-Predictivo-Final-Predictivo-Churn\b51ce01d-8b76-4f78-a45d-b532a3a5bc3e\scratchpad\deck_assets\booste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170432"/>
            <a:ext cx="5806440" cy="267919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537960" y="1188720"/>
            <a:ext cx="2240280" cy="1772483"/>
          </a:xfrm>
          <a:prstGeom prst="roundRect">
            <a:avLst>
              <a:gd name="adj" fmla="val 3265"/>
            </a:avLst>
          </a:prstGeom>
          <a:solidFill>
            <a:srgbClr val="F2F5FC"/>
          </a:solidFill>
          <a:ln/>
          <a:effectLst>
            <a:outerShdw blurRad="88900" dist="25400" dir="2700000" algn="bl" rotWithShape="0">
              <a:srgbClr val="8A93A6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6693408" y="1335024"/>
            <a:ext cx="1938528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200" dirty="0">
                <a:solidFill>
                  <a:srgbClr val="2B31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Búsqueda aleatoria: 25 configs × 5 folds por modelo</a:t>
            </a:r>
            <a:endParaRPr lang="en-US" sz="12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200" dirty="0">
                <a:solidFill>
                  <a:srgbClr val="2B31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Forest: el mayor salto (+0,065) — con defaults sobreajustaba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B31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logística mejora solo +0,003: ya estaba en su techo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457200" y="3977640"/>
            <a:ext cx="8321040" cy="932688"/>
          </a:xfrm>
          <a:prstGeom prst="roundRect">
            <a:avLst>
              <a:gd name="adj" fmla="val 7843"/>
            </a:avLst>
          </a:prstGeom>
          <a:solidFill>
            <a:srgbClr val="F2F5FC"/>
          </a:solidFill>
          <a:ln/>
          <a:effectLst>
            <a:outerShdw blurRad="88900" dist="25400" dir="2700000" algn="bl" rotWithShape="0">
              <a:srgbClr val="8A93A6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685800" y="4069080"/>
            <a:ext cx="7863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También probamos: </a:t>
            </a:r>
            <a:r>
              <a:rPr lang="en-US" sz="1350" dirty="0">
                <a:solidFill>
                  <a:srgbClr val="2B31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ensambles Voting y Stacking del top 3 (+0,001, ruido), CatBoost con categóricas nativas (empata) y un 2.º set de features (empeora). </a:t>
            </a:r>
            <a:r>
              <a:rPr lang="en-US" sz="135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Ninguno justifica más complejidad → LightGBM.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486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· MODELO FINAL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 regularizado: el test confirma lo que la CV prometía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74980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hojas · mín. 50 obs/hoja · learning rate 0,034 · 127 árboles · submuestreo 0,63 — fuerte regularización para 5.600 filas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2249424" cy="135331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8A93A6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1527048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PR-AUC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1783080"/>
            <a:ext cx="1874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0,666</a:t>
            </a:r>
            <a:endParaRPr lang="en-US" sz="2900" dirty="0"/>
          </a:p>
        </p:txBody>
      </p:sp>
      <p:sp>
        <p:nvSpPr>
          <p:cNvPr id="8" name="Text 6"/>
          <p:cNvSpPr/>
          <p:nvPr/>
        </p:nvSpPr>
        <p:spPr>
          <a:xfrm>
            <a:off x="640080" y="2313432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 estimaba 0,672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889504" y="1417320"/>
            <a:ext cx="2249424" cy="135331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8A93A6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072384" y="1527048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072384" y="1783080"/>
            <a:ext cx="1874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89,6%</a:t>
            </a:r>
            <a:endParaRPr lang="en-US" sz="2900" dirty="0"/>
          </a:p>
        </p:txBody>
      </p:sp>
      <p:sp>
        <p:nvSpPr>
          <p:cNvPr id="12" name="Text 10"/>
          <p:cNvSpPr/>
          <p:nvPr/>
        </p:nvSpPr>
        <p:spPr>
          <a:xfrm>
            <a:off x="3072384" y="2313432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de cada 10 churners detectados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935224"/>
            <a:ext cx="2249424" cy="135331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8A93A6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40080" y="3044952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" y="3300984"/>
            <a:ext cx="1874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45,3%</a:t>
            </a:r>
            <a:endParaRPr lang="en-US" sz="2900" dirty="0"/>
          </a:p>
        </p:txBody>
      </p:sp>
      <p:sp>
        <p:nvSpPr>
          <p:cNvPr id="16" name="Text 14"/>
          <p:cNvSpPr/>
          <p:nvPr/>
        </p:nvSpPr>
        <p:spPr>
          <a:xfrm>
            <a:off x="640080" y="3831336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casi la mitad de los contactados iba a irse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889504" y="2935224"/>
            <a:ext cx="2249424" cy="135331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8A93A6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072384" y="3044952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F2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072384" y="3300984"/>
            <a:ext cx="1874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0,749</a:t>
            </a:r>
            <a:endParaRPr lang="en-US" sz="2900" dirty="0"/>
          </a:p>
        </p:txBody>
      </p:sp>
      <p:sp>
        <p:nvSpPr>
          <p:cNvPr id="20" name="Text 18"/>
          <p:cNvSpPr/>
          <p:nvPr/>
        </p:nvSpPr>
        <p:spPr>
          <a:xfrm>
            <a:off x="3072384" y="3831336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el umbral operativo 0,153</a:t>
            </a:r>
            <a:endParaRPr lang="en-US" sz="1100" dirty="0"/>
          </a:p>
        </p:txBody>
      </p:sp>
      <p:pic>
        <p:nvPicPr>
          <p:cNvPr id="21" name="Image 0" descr="C:\Users\ftamaki\AppData\Local\Temp\claude\C--Users-ftamaki-Documents-ITBA-1C2026-Predictivo-Final-Predictivo-Churn\b51ce01d-8b76-4f78-a45d-b532a3a5bc3e\scratchpad\deck_assets\confus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0" y="1536192"/>
            <a:ext cx="3200400" cy="2752344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457200" y="4590288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única sobre test (1.409 clientes) · CV ≈ test ⇒ metodología sin fugas de información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486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· MODELO FINAL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8321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umbral elegido: 0,153 — donde el F2 es máximo</a:t>
            </a:r>
            <a:endParaRPr lang="en-US" sz="2500" dirty="0"/>
          </a:p>
        </p:txBody>
      </p:sp>
      <p:pic>
        <p:nvPicPr>
          <p:cNvPr id="4" name="Image 0" descr="C:\Users\ftamaki\AppData\Local\Temp\claude\C--Users-ftamaki-Documents-ITBA-1C2026-Predictivo-Final-Predictivo-Churn\b51ce01d-8b76-4f78-a45d-b532a3a5bc3e\scratchpad\deck_assets\umbr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188720"/>
            <a:ext cx="5806440" cy="32004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537960" y="1261872"/>
            <a:ext cx="2240280" cy="2371505"/>
          </a:xfrm>
          <a:prstGeom prst="roundRect">
            <a:avLst>
              <a:gd name="adj" fmla="val 3265"/>
            </a:avLst>
          </a:prstGeom>
          <a:solidFill>
            <a:srgbClr val="F2F5FC"/>
          </a:solidFill>
          <a:ln/>
          <a:effectLst>
            <a:outerShdw blurRad="88900" dist="25400" dir="2700000" algn="bl" rotWithShape="0">
              <a:srgbClr val="8A93A6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6693408" y="1408176"/>
            <a:ext cx="193852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7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tan bajo?</a:t>
            </a:r>
            <a:endParaRPr lang="en-US" sz="14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2B31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F2 prioriza recall: conviene aceptar falsas alarmas antes que dejar escapar churners.</a:t>
            </a:r>
            <a:endParaRPr lang="en-US" sz="1400" dirty="0"/>
          </a:p>
          <a:p>
            <a:pPr marL="0" indent="0">
              <a:spcAft>
                <a:spcPts val="700"/>
              </a:spcAft>
              <a:buNone/>
            </a:pPr>
            <a:r>
              <a:rPr lang="en-US" sz="13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 accionar sobre ~52% de la cartera</a:t>
            </a:r>
            <a:endParaRPr lang="en-US" sz="1400" dirty="0"/>
          </a:p>
          <a:p>
            <a:pPr marL="0" indent="0">
              <a:buNone/>
            </a:pPr>
            <a:r>
              <a:rPr lang="en-US" sz="1250" dirty="0">
                <a:solidFill>
                  <a:srgbClr val="2B31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el umbral estándar 0,5: precision 67% pero el recall cae a 53%.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486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· MODELO FINAL — LECTURA DE NEGOCIO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8321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score a la acción: el modelo entrega el menú, el negocio elige el punto</a:t>
            </a:r>
            <a:endParaRPr lang="en-US" sz="2500" dirty="0"/>
          </a:p>
        </p:txBody>
      </p:sp>
      <p:pic>
        <p:nvPicPr>
          <p:cNvPr id="4" name="Image 0" descr="C:\Users\ftamaki\AppData\Local\Temp\claude\C--Users-ftamaki-Documents-ITBA-1C2026-Predictivo-Final-Predictivo-Churn\b51ce01d-8b76-4f78-a45d-b532a3a5bc3e\scratchpad\deck_assets\gananc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1682" y="1078992"/>
            <a:ext cx="5686235" cy="365297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486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· MODELO FINAL — INTERPRETACIÓN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56616"/>
            <a:ext cx="8321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modelo aprendió lo que el EDA anticipaba (SHAP sobre test)</a:t>
            </a:r>
            <a:endParaRPr lang="en-US" sz="2500" dirty="0"/>
          </a:p>
        </p:txBody>
      </p:sp>
      <p:pic>
        <p:nvPicPr>
          <p:cNvPr id="4" name="Image 0" descr="C:\Users\ftamaki\AppData\Local\Temp\claude\C--Users-ftamaki-Documents-ITBA-1C2026-Predictivo-Final-Predictivo-Churn\b51ce01d-8b76-4f78-a45d-b532a3a5bc3e\scratchpad\deck_assets\sh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188720"/>
            <a:ext cx="5760720" cy="331927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46520" y="1261872"/>
            <a:ext cx="2331720" cy="3019458"/>
          </a:xfrm>
          <a:prstGeom prst="roundRect">
            <a:avLst>
              <a:gd name="adj" fmla="val 3137"/>
            </a:avLst>
          </a:prstGeom>
          <a:solidFill>
            <a:srgbClr val="F2F5FC"/>
          </a:solidFill>
          <a:ln/>
          <a:effectLst>
            <a:outerShdw blurRad="88900" dist="25400" dir="2700000" algn="bl" rotWithShape="0">
              <a:srgbClr val="8A93A6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6611112" y="1426464"/>
            <a:ext cx="2029968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B31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mes a mes: el driver dominante (impacto doble que el 2.º)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B31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Antigüedad baja y fibra óptica empujan al churn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B31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de 2 años y tener soporte/seguridad protegen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Coherencia EDA ↔ modelo = confianza para accionar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486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· LIMITACIONES Y POSIBLES MEJORAS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8321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techo no está en el algoritmo: está en los datos y en la decisión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3977640" cy="283464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8A93A6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85800" y="141732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(la mejora nº 1)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85800" y="1874520"/>
            <a:ext cx="35204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B31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 de un mes: features temporales (tendencia de gasto, cambios de plan, tickets recientes) son lo que más subiría el techo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B31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datos de uso, reclamos ni satisfacción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B31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Probamos 2 rondas de feature engineering: no aportan — la información nueva tiene que venir de afuera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709160" y="1234440"/>
            <a:ext cx="3977640" cy="283464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8A93A6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937760" y="141732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Decisión (con el modelo actual)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4937760" y="1874520"/>
            <a:ext cx="35204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B31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Elegir el umbral por valor esperado: prob. × valor del cliente × efectividad de la oferta − costo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B31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Uplift modeling: targetear a los persuadibles, no solo a los que se van (requiere experimentos)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B31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Monitoreo mensual del score y recalibración ante cambios de mix comercial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· CONCLUSIONES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Qué gana el negocio con este modelo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536192"/>
            <a:ext cx="3840480" cy="1481328"/>
          </a:xfrm>
          <a:prstGeom prst="roundRect">
            <a:avLst>
              <a:gd name="adj" fmla="val 4938"/>
            </a:avLst>
          </a:prstGeom>
          <a:solidFill>
            <a:srgbClr val="27336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41248" y="166420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Anticipa la fuga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841248" y="2048256"/>
            <a:ext cx="34564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E8ED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Detecta 9 de cada 10 clientes que se van a dar de baja antes de que lo hagan, a tiempo para retenerlos.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754880" y="1536192"/>
            <a:ext cx="3840480" cy="1481328"/>
          </a:xfrm>
          <a:prstGeom prst="roundRect">
            <a:avLst>
              <a:gd name="adj" fmla="val 4938"/>
            </a:avLst>
          </a:prstGeom>
          <a:solidFill>
            <a:srgbClr val="27336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956048" y="166420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Explica el porqué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4956048" y="2048256"/>
            <a:ext cx="34564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E8ED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mes a mes, cliente nuevo y falta de servicios de anclaje. Sugiere palancas: incentivar contratos largos y ofrecer bundles.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3163824"/>
            <a:ext cx="3840480" cy="1481328"/>
          </a:xfrm>
          <a:prstGeom prst="roundRect">
            <a:avLst>
              <a:gd name="adj" fmla="val 4938"/>
            </a:avLst>
          </a:prstGeom>
          <a:solidFill>
            <a:srgbClr val="27336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41248" y="32918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Enfoca el esfuerzo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841248" y="3675888"/>
            <a:ext cx="34564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E8ED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Contactando al 20% de mayor riesgo se alcanza a la mitad de las bajas. El equipo decide cuántos clientes contactar según su capacidad.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754880" y="3163824"/>
            <a:ext cx="3840480" cy="1481328"/>
          </a:xfrm>
          <a:prstGeom prst="roundRect">
            <a:avLst>
              <a:gd name="adj" fmla="val 4938"/>
            </a:avLst>
          </a:prstGeom>
          <a:solidFill>
            <a:srgbClr val="27336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956048" y="32918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usar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4956048" y="3675888"/>
            <a:ext cx="34564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E8ED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integra al ciclo de facturación mensual y entrega un ranking de clientes confiable, sin depender de datos que hoy no existan.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1154</TotalTime>
  <Words>1887</Words>
  <Application>Microsoft Office PowerPoint</Application>
  <PresentationFormat>On-screen Show (16:9)</PresentationFormat>
  <Paragraphs>189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Predicción de Churn — Examen Final Análisis Predictivo</dc:title>
  <dc:subject>PptxGenJS Presentation</dc:subject>
  <dc:creator>PptxGenJS</dc:creator>
  <cp:lastModifiedBy>Susana Ishida</cp:lastModifiedBy>
  <cp:revision>6</cp:revision>
  <dcterms:created xsi:type="dcterms:W3CDTF">2026-07-12T17:25:27Z</dcterms:created>
  <dcterms:modified xsi:type="dcterms:W3CDTF">2026-07-13T21:32:29Z</dcterms:modified>
</cp:coreProperties>
</file>